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486400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486400"/>
            <a:ext cx="2926080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5623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39905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85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29A1E"/>
                </a:solidFill>
                <a:latin typeface="Segoe UI Semibold"/>
              </a:rPr>
              <a:t>GUJARAT POLICE INNOVATION CHALLENGE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19659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 i="0">
                <a:solidFill>
                  <a:srgbClr val="FFFFFF"/>
                </a:solidFill>
                <a:latin typeface="Bahnschrift SemiBold"/>
              </a:rPr>
              <a:t>SENTINEL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46120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B9C6DA"/>
                </a:solidFill>
                <a:latin typeface="Segoe UI Semilight"/>
              </a:rPr>
              <a:t>The interoperability and accountability layer for Gujarat's existing CCTV estate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A96A8"/>
                </a:solidFill>
                <a:latin typeface="Segoe UI"/>
              </a:rPr>
              <a:t>Solution Presentation  ·  Model 1 + 2 Hybrid  ·  Phase 1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Gujarat already has cameras, VMS and ANPR, but they don't talk to each 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01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10312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2103120"/>
            <a:ext cx="44450" cy="329184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4942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11827"/>
                </a:solidFill>
                <a:latin typeface="Segoe UI Semibold"/>
              </a:rPr>
              <a:t>Fragmented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33472"/>
            <a:ext cx="31546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16E82"/>
                </a:solidFill>
                <a:latin typeface="Segoe UI"/>
              </a:rPr>
              <a:t>Every department runs its own VMS. A control room needs a separate viewer for each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210312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45152" y="2103120"/>
            <a:ext cx="44450" cy="329184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24942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11827"/>
                </a:solidFill>
                <a:latin typeface="Segoe UI Semibold"/>
              </a:rPr>
              <a:t>No shared evidence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633472"/>
            <a:ext cx="31546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16E82"/>
                </a:solidFill>
                <a:latin typeface="Segoe UI"/>
              </a:rPr>
              <a:t>Sightings, ANPR reads and alerts sit in silos with no common, auditable record.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210312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85632" y="2103120"/>
            <a:ext cx="44450" cy="3291840"/>
          </a:xfrm>
          <a:prstGeom prst="rect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24942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11827"/>
                </a:solidFill>
                <a:latin typeface="Segoe UI Semibold"/>
              </a:rPr>
              <a:t>Camera fitness unknown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633472"/>
            <a:ext cx="31546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16E82"/>
                </a:solidFill>
                <a:latin typeface="Segoe UI"/>
              </a:rPr>
              <a:t>A camera can stream perfectly and never produce a usable plate read. Nobody measures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SOLUTION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Model 1 + 2 hybrid, mandatory. Model 3/4 as bonus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02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148840"/>
            <a:ext cx="10561320" cy="749808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" y="2450592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31343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827"/>
                </a:solidFill>
                <a:latin typeface="Segoe UI Semibold"/>
              </a:rPr>
              <a:t>Model 1: Registry &amp; 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A16B"/>
                </a:solidFill>
                <a:latin typeface="Segoe UI Semibold"/>
              </a:rPr>
              <a:t>Mandatory · Built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3044952"/>
            <a:ext cx="10561320" cy="749808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9848" y="3346704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20954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827"/>
                </a:solidFill>
                <a:latin typeface="Segoe UI Semibold"/>
              </a:rPr>
              <a:t>Model 2: Unified Viewing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2783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A16B"/>
                </a:solidFill>
                <a:latin typeface="Segoe UI Semibold"/>
              </a:rPr>
              <a:t>Mandatory · Built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3941064"/>
            <a:ext cx="10561320" cy="749808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9848" y="4242816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105656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827"/>
                </a:solidFill>
                <a:latin typeface="Segoe UI Semibold"/>
              </a:rPr>
              <a:t>Model 3: VMS Federation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12394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29A1E"/>
                </a:solidFill>
                <a:latin typeface="Segoe UI Semibold"/>
              </a:rPr>
              <a:t>Bonus · Built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837176"/>
            <a:ext cx="10561320" cy="749808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9848" y="5138928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00176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827"/>
                </a:solidFill>
                <a:latin typeface="Segoe UI Semibold"/>
              </a:rPr>
              <a:t>Model 4: Central VMS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020056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29A1E"/>
                </a:solidFill>
                <a:latin typeface="Segoe UI Semibold"/>
              </a:rPr>
              <a:t>Bonus · Pilot slice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16E82"/>
                </a:solidFill>
                <a:latin typeface="Segoe UI Semilight"/>
              </a:rPr>
              <a:t>Departments keep full control of their own infrastructure. Sentinel adds a layer above, never a replacement.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KEY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Sentinel's contribution is refusing to let inference pass as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03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19659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1965960"/>
            <a:ext cx="3520440" cy="63500"/>
          </a:xfrm>
          <a:prstGeom prst="rect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2128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A16B"/>
                </a:solidFill>
                <a:latin typeface="Segoe UI Semibold"/>
              </a:rPr>
              <a:t>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26974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"/>
              </a:rPr>
              <a:t>Plate-supported. Only tier exportable as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11480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Bahnschrift SemiBold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19659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1965960"/>
            <a:ext cx="3520440" cy="6350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22128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29A1E"/>
                </a:solidFill>
                <a:latin typeface="Segoe UI Semibold"/>
              </a:rPr>
              <a:t>PROBABLE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26974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"/>
              </a:rPr>
              <a:t>Multiple signals, needs review. Not exportable.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411480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requires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85632" y="19659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85632" y="1965960"/>
            <a:ext cx="3520440" cy="63500"/>
          </a:xfrm>
          <a:prstGeom prst="rect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22128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04A4A"/>
                </a:solidFill>
                <a:latin typeface="Segoe UI Semibold"/>
              </a:rPr>
              <a:t>LEAD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69748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"/>
              </a:rPr>
              <a:t>Appearance/inference only. Export disabled in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411480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Bahnschrift SemiBold"/>
              </a:rPr>
              <a:t>12,251 of 12,257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A96A8"/>
                </a:solidFill>
                <a:latin typeface="Segoe UI Semilight"/>
              </a:rPr>
              <a:t>Measured on the real database. Appearance-only links score a 41.87% false-positive rate on confirmed-different vehicles, which is exactly why they stay a lead, never a fact.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Existing systems keep running. Sentinel sits above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04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31720"/>
            <a:ext cx="2834640" cy="2651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Segoe UI Semibold"/>
              </a:rPr>
              <a:t>Departmental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Segoe UI Semibold"/>
              </a:rPr>
              <a:t>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16E82"/>
                </a:solidFill>
                <a:latin typeface="Segoe UI"/>
              </a:rPr>
              <a:t>VMS · RTSP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16E82"/>
                </a:solidFill>
                <a:latin typeface="Segoe UI"/>
              </a:rPr>
              <a:t>ONVIF · ANPR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331720"/>
            <a:ext cx="2834640" cy="2651760"/>
          </a:xfrm>
          <a:prstGeom prst="roundRect">
            <a:avLst>
              <a:gd name="adj" fmla="val 6000"/>
            </a:avLst>
          </a:prstGeom>
          <a:solidFill>
            <a:srgbClr val="0D1628"/>
          </a:solidFill>
          <a:ln w="12700">
            <a:solidFill>
              <a:srgbClr val="0D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9" y="265176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Sentinel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integration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886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Normalize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vendor-neutral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331720"/>
            <a:ext cx="2834640" cy="2651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65176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Segoe UI Semibold"/>
              </a:rPr>
              <a:t>Registry · GIS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Segoe UI Semibold"/>
              </a:rPr>
              <a:t>Viewer ·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886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16E82"/>
                </a:solidFill>
                <a:latin typeface="Segoe UI"/>
              </a:rPr>
              <a:t>Camera health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16E82"/>
                </a:solidFill>
                <a:latin typeface="Segoe UI"/>
              </a:rPr>
              <a:t>Watchlist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29000" y="3657600.0"/>
            <a:ext cx="548639" cy="0.0"/>
          </a:xfrm>
          <a:prstGeom prst="line">
            <a:avLst/>
          </a:prstGeom>
          <a:ln w="381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12280" y="3657600.0"/>
            <a:ext cx="548640" cy="0.0"/>
          </a:xfrm>
          <a:prstGeom prst="line">
            <a:avLst/>
          </a:prstGeom>
          <a:ln w="381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4672" y="5349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16E82"/>
                </a:solidFill>
                <a:latin typeface="Segoe UI Semilight"/>
              </a:rPr>
              <a:t>Normalized event flow: Search &amp; timeline · Watchlist &amp; alerts · Confidence tier · Audit &amp; §63 evidence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END-TO-END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From camera feed to auditable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05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148840"/>
            <a:ext cx="2331720" cy="15544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6974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1. Ingest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6392" y="2926080.0"/>
            <a:ext cx="256032" cy="0.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92424" y="2148840"/>
            <a:ext cx="2331720" cy="15544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6974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2. Detect &amp; track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24144" y="2926080.0"/>
            <a:ext cx="256032" cy="0.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80176" y="2148840"/>
            <a:ext cx="2331720" cy="15544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26974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3. ANPR / attributes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11896" y="2926080.0"/>
            <a:ext cx="256032" cy="0.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67928" y="2148840"/>
            <a:ext cx="2331720" cy="15544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26974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4. Normalize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4160520"/>
            <a:ext cx="2331720" cy="1554480"/>
          </a:xfrm>
          <a:prstGeom prst="roundRect">
            <a:avLst>
              <a:gd name="adj" fmla="val 10000"/>
            </a:avLst>
          </a:prstGeom>
          <a:solidFill>
            <a:srgbClr val="EAF6EF"/>
          </a:solidFill>
          <a:ln w="9525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70916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5. Search &amp; correlate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36392" y="4937760.0"/>
            <a:ext cx="256032" cy="0.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92424" y="4160520"/>
            <a:ext cx="2331720" cy="1554480"/>
          </a:xfrm>
          <a:prstGeom prst="roundRect">
            <a:avLst>
              <a:gd name="adj" fmla="val 10000"/>
            </a:avLst>
          </a:prstGeom>
          <a:solidFill>
            <a:srgbClr val="EAF6EF"/>
          </a:solidFill>
          <a:ln w="9525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9584" y="470916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6. Alert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24144" y="4937760.0"/>
            <a:ext cx="256032" cy="0.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80176" y="4160520"/>
            <a:ext cx="2331720" cy="1554480"/>
          </a:xfrm>
          <a:prstGeom prst="roundRect">
            <a:avLst>
              <a:gd name="adj" fmla="val 10000"/>
            </a:avLst>
          </a:prstGeom>
          <a:solidFill>
            <a:srgbClr val="EAF6EF"/>
          </a:solidFill>
          <a:ln w="9525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7336" y="470916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7. Evidence package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11896" y="4937760.0"/>
            <a:ext cx="256032" cy="0.0"/>
          </a:xfrm>
          <a:prstGeom prst="line">
            <a:avLst/>
          </a:prstGeom>
          <a:ln w="25400">
            <a:solidFill>
              <a:srgbClr val="2F7AF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67928" y="4160520"/>
            <a:ext cx="2331720" cy="1554480"/>
          </a:xfrm>
          <a:prstGeom prst="roundRect">
            <a:avLst>
              <a:gd name="adj" fmla="val 10000"/>
            </a:avLst>
          </a:prstGeom>
          <a:solidFill>
            <a:srgbClr val="EAF6EF"/>
          </a:solidFill>
          <a:ln w="9525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5088" y="470916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8.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AI VIDEO ANALYTICS: REAL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Bahnschrift SemiBold"/>
              </a:rPr>
              <a:t>A real plate read, reproduced on live sandbox footage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06 /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 i="0">
                <a:solidFill>
                  <a:srgbClr val="FFFFFF"/>
                </a:solidFill>
                <a:latin typeface="Bahnschrift SemiBold"/>
              </a:rPr>
              <a:t>GJ19BR3000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EC9B7"/>
                </a:solidFill>
                <a:latin typeface="Segoe UI Semibold"/>
              </a:rPr>
              <a:t>Camera cam06 · 6 of 6 consecutive samples · confidence 0.917–0.977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A96A8"/>
                </a:solidFill>
                <a:latin typeface="Segoe UI Semilight"/>
              </a:rPr>
              <a:t>Detection (YOLOv8), then plate localisation (YOLOv11), PaddleOCR, pattern validation, and temporal consensus. ByteTrack tracks within one camera only. It is never presented as cross-camera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MODEL 2: UNIFIED 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Two genuinely independent systems, one 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07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1031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2103120"/>
            <a:ext cx="44450" cy="210312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494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Segoe UI Semibold"/>
              </a:rPr>
              <a:t>System A: Gujarat 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33472"/>
            <a:ext cx="4754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16E82"/>
                </a:solidFill>
                <a:latin typeface="Segoe UI"/>
              </a:rPr>
              <a:t>Live RTSP/HLS, ANPR-processed. 30 real cameras across 5 departments.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031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03120"/>
            <a:ext cx="44450" cy="210312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2494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Segoe UI Semibold"/>
              </a:rPr>
              <a:t>System B: Caltrans District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633472"/>
            <a:ext cx="4754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16E82"/>
                </a:solidFill>
                <a:latin typeface="Segoe UI"/>
              </a:rPr>
              <a:t>Real, independently-operated public CCTV API. Honestly labelled ‘periodic snapshot, not live video’.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4526280"/>
            <a:ext cx="3429000" cy="685800"/>
          </a:xfrm>
          <a:prstGeom prst="roundRect">
            <a:avLst>
              <a:gd name="adj" fmla="val 30000"/>
            </a:avLst>
          </a:prstGeom>
          <a:solidFill>
            <a:srgbClr val="EAF6EF"/>
          </a:solidFill>
          <a:ln w="9525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718304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RTSP / ONVIF / API aggregation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4526280"/>
            <a:ext cx="3429000" cy="685800"/>
          </a:xfrm>
          <a:prstGeom prst="roundRect">
            <a:avLst>
              <a:gd name="adj" fmla="val 30000"/>
            </a:avLst>
          </a:prstGeom>
          <a:solidFill>
            <a:srgbClr val="EAF6EF"/>
          </a:solidFill>
          <a:ln w="9525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4718304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9-tile configurable video wall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4526280"/>
            <a:ext cx="3429000" cy="685800"/>
          </a:xfrm>
          <a:prstGeom prst="roundRect">
            <a:avLst>
              <a:gd name="adj" fmla="val 30000"/>
            </a:avLst>
          </a:prstGeom>
          <a:solidFill>
            <a:srgbClr val="EAF6EF"/>
          </a:solidFill>
          <a:ln w="9525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2" y="4718304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 Semibold"/>
              </a:rPr>
              <a:t>Searchable movement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MODEL 3: VMS FEDERATION (BONUS)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A real adapter architecture and correlation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08 /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488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2F7AF2"/>
                </a:solidFill>
                <a:latin typeface="Segoe UI"/>
              </a:rPr>
              <a:t>—  </a:t>
            </a:r>
            <a:r>
              <a:rPr sz="1600">
                <a:solidFill>
                  <a:srgbClr val="111827"/>
                </a:solidFill>
                <a:latin typeface="Segoe UI"/>
              </a:rPr>
              <a:t>Adapter Protocol, with two real adapters: Sentinel's own stack, NYC Open Data's public dataset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2F7AF2"/>
                </a:solidFill>
                <a:latin typeface="Segoe UI"/>
              </a:rPr>
              <a:t>—  </a:t>
            </a:r>
            <a:r>
              <a:rPr sz="1600">
                <a:solidFill>
                  <a:srgbClr val="111827"/>
                </a:solidFill>
                <a:latin typeface="Segoe UI"/>
              </a:rPr>
              <a:t>Polled event bus, not Kafka, a deliberate pilot-scale decision, documented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600" b="1">
                <a:solidFill>
                  <a:srgbClr val="2F7AF2"/>
                </a:solidFill>
                <a:latin typeface="Segoe UI"/>
              </a:rPr>
              <a:t>—  </a:t>
            </a:r>
            <a:r>
              <a:rPr sz="1600">
                <a:solidFill>
                  <a:srgbClr val="111827"/>
                </a:solidFill>
                <a:latin typeface="Segoe UI"/>
              </a:rPr>
              <a:t>Correlation engine: 1,105 events / 3 sources / 4 correlations, verified end-to-end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4663440"/>
            <a:ext cx="10561320" cy="1371600"/>
          </a:xfrm>
          <a:prstGeom prst="roundRect">
            <a:avLst>
              <a:gd name="adj" fmla="val 8000"/>
            </a:avLst>
          </a:prstGeom>
          <a:solidFill>
            <a:srgbClr val="FFF7EC"/>
          </a:solidFill>
          <a:ln w="9525">
            <a:solidFill>
              <a:srgbClr val="F0D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84632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A5A1E"/>
                </a:solidFill>
                <a:latin typeface="Segoe UI Semilight"/>
              </a:rPr>
              <a:t>Honesty note: Systems A and B share zero real plates by construction. A third, clearly-labelled SYNTHETIC source proves the mechanism works. It is never presented as two live government systems exchanging real traffic.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MODEL 4: CENTRAL VMS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A scoped pilot slice, not a statewide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09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057400"/>
            <a:ext cx="10561320" cy="62179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2416" y="2295144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176272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Density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2A16B"/>
                </a:solidFill>
                <a:latin typeface="Segoe UI Semibold"/>
              </a:rPr>
              <a:t>Test-verified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2788920"/>
            <a:ext cx="10561320" cy="62179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6" y="3026664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07792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Central pilot rollup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2A16B"/>
                </a:solidFill>
                <a:latin typeface="Segoe UI Semibold"/>
              </a:rPr>
              <a:t>Test-verified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3520440"/>
            <a:ext cx="10561320" cy="62179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" y="3758184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639312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Storage-tier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657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29A1E"/>
                </a:solidFill>
                <a:latin typeface="Segoe UI Semibold"/>
              </a:rPr>
              <a:t>Implemented, unverified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251960"/>
            <a:ext cx="10561320" cy="62179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" y="4489704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370832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Govt-DB query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389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29A1E"/>
                </a:solidFill>
                <a:latin typeface="Segoe UI Semibold"/>
              </a:rPr>
              <a:t>Interface built, access blocked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4983480"/>
            <a:ext cx="10561320" cy="62179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2416" y="5221224"/>
            <a:ext cx="146304" cy="146304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102352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Face recognition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04A4A"/>
                </a:solidFill>
                <a:latin typeface="Segoe UI Semibold"/>
              </a:rPr>
              <a:t>Deliberately excluded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" y="5715000"/>
            <a:ext cx="10561320" cy="62179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2416" y="5952744"/>
            <a:ext cx="146304" cy="146304"/>
          </a:xfrm>
          <a:prstGeom prst="ellipse">
            <a:avLst/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33872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80,000-camera load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852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04A4A"/>
                </a:solidFill>
                <a:latin typeface="Segoe UI Semibold"/>
              </a:rPr>
              <a:t>Not attempted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EVIDENCE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Bahnschrift SemiBold"/>
              </a:rPr>
              <a:t>Provenance recorded at write time, never re-computed to look clean later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10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10312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2331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EC9B7"/>
                </a:solidFill>
                <a:latin typeface="Segoe UI Semibold"/>
              </a:rPr>
              <a:t>SHA-256 at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7889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"/>
              </a:rPr>
              <a:t>Hashed the instant the crop is saved. A mismatch is reported, never healed.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210312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2" y="2331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EC9B7"/>
                </a:solidFill>
                <a:latin typeface="Segoe UI Semibold"/>
              </a:rPr>
              <a:t>Production stamp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27889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"/>
              </a:rPr>
              <a:t>Records which detector/OCR class ran. A stub and a real model can't look the same.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85632" y="210312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2331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EC9B7"/>
                </a:solidFill>
                <a:latin typeface="Segoe UI Semibold"/>
              </a:rPr>
              <a:t>Gated, purpose-bound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7889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B9C6DA"/>
                </a:solidFill>
                <a:latin typeface="Segoe UI"/>
              </a:rPr>
              <a:t>CONFIRMED only. Every export attempt is audit-logged before the file exists.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709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8A96A8"/>
                </a:solidFill>
                <a:latin typeface="Segoe UI Semilight"/>
              </a:rPr>
              <a:t>Wording is always “§63-oriented”, never “court admissible”. That requires legal review this project hasn't had.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SCALABILITY TOWARD ~80,000 CAMERAS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Structured events at the edge, not raw video centrally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11 /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8600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E04A4A"/>
                </a:solidFill>
                <a:latin typeface="Bahnschrift SemiBold"/>
              </a:rPr>
              <a:t>160 Gbps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16E82"/>
                </a:solidFill>
                <a:latin typeface="Segoe UI"/>
              </a:rPr>
              <a:t>Raw video, statewide (ruled out)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77840" y="2606040"/>
            <a:ext cx="1005840" cy="640080"/>
          </a:xfrm>
          <a:prstGeom prst="rightArrow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12A16B"/>
                </a:solidFill>
                <a:latin typeface="Bahnschrift SemiBold"/>
              </a:rPr>
              <a:t>640 Mbps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16E82"/>
                </a:solidFill>
                <a:latin typeface="Segoe UI"/>
              </a:rPr>
              <a:t>Structured events only (Sentinel's design)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06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616E82"/>
                </a:solidFill>
                <a:latin typeface="Segoe UI"/>
              </a:rPr>
              <a:t>Edge, regional and central architecture. Projected from the ~30-camera pilot's measured per-stream cost, not a load test at 80,000-camera scale, which was deliberately not attempted this cycle.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SECURITY &amp;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Real controls, not a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12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1031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3026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Department-scoped RBAC, object-level, not role-only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1031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26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Purpose-bound search, required purpose + case ID, audited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21031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286000"/>
            <a:ext cx="3026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Credentials never reach the browser or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37033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3026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SSRF-hardened ONVIF discovery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7033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886200"/>
            <a:ext cx="3026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Full audit trail on every search, export, edit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6992" y="370332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886200"/>
            <a:ext cx="302666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Open, vendor-neutral event schema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HONEST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What's proven, and what isn't, stated plainly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13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103120"/>
            <a:ext cx="10561320" cy="71323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" y="2386584"/>
            <a:ext cx="146304" cy="146304"/>
          </a:xfrm>
          <a:prstGeom prst="ellipse">
            <a:avLst/>
          </a:prstGeom>
          <a:solidFill>
            <a:srgbClr val="12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258568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Real ANPR read on live footage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76856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A16B"/>
                </a:solidFill>
                <a:latin typeface="Segoe UI Semibold"/>
              </a:rPr>
              <a:t>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2944368"/>
            <a:ext cx="10561320" cy="71323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9848" y="3227832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99816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Fleet-wide ANPR read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118104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9A1E"/>
                </a:solidFill>
                <a:latin typeface="Segoe UI Semibold"/>
              </a:rPr>
              <a:t>Low, disclosed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3785616"/>
            <a:ext cx="10561320" cy="71323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9848" y="4069080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3941064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Cross-camera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959352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9A1E"/>
                </a:solidFill>
                <a:latin typeface="Segoe UI Semibold"/>
              </a:rPr>
              <a:t>Governance shown, not 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626864"/>
            <a:ext cx="10561320" cy="71323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9848" y="4910328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782312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§63 evidence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9A1E"/>
                </a:solidFill>
                <a:latin typeface="Segoe UI Semibold"/>
              </a:rPr>
              <a:t>“Oriented” only, no legal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5468112"/>
            <a:ext cx="10561320" cy="713232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9848" y="5751576"/>
            <a:ext cx="146304" cy="146304"/>
          </a:xfrm>
          <a:prstGeom prst="ellipse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623560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Segoe UI Semibold"/>
              </a:rPr>
              <a:t>80,000-camera scalability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641848"/>
            <a:ext cx="3383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9A1E"/>
                </a:solidFill>
                <a:latin typeface="Segoe UI Semibold"/>
              </a:rPr>
              <a:t>Projection, not a load 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EXPECTED OPERATIONAL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Bahnschrift SemiBold"/>
              </a:rPr>
              <a:t>Making existing investment measurable and trustworthy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14 /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94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C9B7"/>
                </a:solidFill>
                <a:latin typeface="Segoe UI Semibold"/>
              </a:rPr>
              <a:t>Control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97480"/>
            <a:ext cx="3520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B9C6DA"/>
                </a:solidFill>
                <a:latin typeface="Segoe UI"/>
              </a:rPr>
              <a:t>One viewer instead of many. Real-time camera-fitness signal, not just stream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194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C9B7"/>
                </a:solidFill>
                <a:latin typeface="Segoe UI Semibold"/>
              </a:rPr>
              <a:t>Investigators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697480"/>
            <a:ext cx="3520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B9C6DA"/>
                </a:solidFill>
                <a:latin typeface="Segoe UI"/>
              </a:rPr>
              <a:t>A search that states its own confidence honestly, with a provable evidence chain.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194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C9B7"/>
                </a:solidFill>
                <a:latin typeface="Segoe UI Semibold"/>
              </a:rPr>
              <a:t>Leadership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697480"/>
            <a:ext cx="3520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B9C6DA"/>
                </a:solidFill>
                <a:latin typeface="Segoe UI"/>
              </a:rPr>
              <a:t>Interoperability without replacing existing VMS investment.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33327" y="256032"/>
            <a:ext cx="201168" cy="28575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5920" y="256032"/>
            <a:ext cx="28575" cy="201168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29A1E"/>
                </a:solidFill>
                <a:latin typeface="Segoe UI Semibold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3776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Bahnschrift SemiBold"/>
              </a:rPr>
              <a:t>A pragmatic stack. Nothing here is claimed as novel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SENTINEL  //  Gujarat Police Innovation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16E82"/>
                </a:solidFill>
                <a:latin typeface="Segoe UI"/>
              </a:rPr>
              <a:t>15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10312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6771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AF2"/>
                </a:solidFill>
                <a:latin typeface="Segoe UI Semibold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30266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"/>
              </a:rPr>
              <a:t>FastAPI · SQLAlchemy · SQLite/PostgreSQL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10312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26771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AF2"/>
                </a:solidFill>
                <a:latin typeface="Segoe UI Semibold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30266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"/>
              </a:rPr>
              <a:t>React 19 + Vite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210312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26771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AF2"/>
                </a:solidFill>
                <a:latin typeface="Segoe UI Semibold"/>
              </a:rPr>
              <a:t>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51760"/>
            <a:ext cx="30266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"/>
              </a:rPr>
              <a:t>RTSP · ONVIF · HLS proxy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3520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68503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AF2"/>
                </a:solidFill>
                <a:latin typeface="Segoe UI Semibold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69080"/>
            <a:ext cx="30266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"/>
              </a:rPr>
              <a:t>YOLOv8/v11 · PaddleOCR · ByteTrack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520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68503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AF2"/>
                </a:solidFill>
                <a:latin typeface="Segoe UI Semibold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69080"/>
            <a:ext cx="30266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"/>
              </a:rPr>
              <a:t>SHA-256 · reportlab · §63-oriented 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36992" y="3520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E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68503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AF2"/>
                </a:solidFill>
                <a:latin typeface="Segoe UI Semibold"/>
              </a:rPr>
              <a:t>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069080"/>
            <a:ext cx="30266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16E82"/>
                </a:solidFill>
                <a:latin typeface="Segoe UI"/>
              </a:rPr>
              <a:t>Department-scoped RBAC · audit 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620" cy="6858000"/>
          </a:xfrm>
          <a:prstGeom prst="rect">
            <a:avLst/>
          </a:prstGeom>
          <a:solidFill>
            <a:srgbClr val="1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349240"/>
            <a:ext cx="12191695" cy="31750"/>
          </a:xfrm>
          <a:prstGeom prst="rect">
            <a:avLst/>
          </a:prstGeom>
          <a:solidFill>
            <a:srgbClr val="2F7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349240"/>
            <a:ext cx="2926080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5623" y="320040"/>
            <a:ext cx="256032" cy="31750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39905" y="320040"/>
            <a:ext cx="31750" cy="256032"/>
          </a:xfrm>
          <a:prstGeom prst="rect">
            <a:avLst/>
          </a:prstGeom>
          <a:solidFill>
            <a:srgbClr val="F2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7373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Bahnschrift SemiBold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7889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B9C6DA"/>
                </a:solidFill>
                <a:latin typeface="Segoe UI Semilight"/>
              </a:rPr>
              <a:t>Gujarat already has the eyes and the detectors. Sentinel makes what they see explainable, auditable, and evidence-ready.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3192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HLD + Scalability Strategy submitted alongside this deck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Own-feed and government-feed demo videos included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9A1E"/>
                </a:solidFill>
                <a:latin typeface="Segoe UI Semilight"/>
              </a:rPr>
              <a:t>—  </a:t>
            </a:r>
            <a:r>
              <a:rPr sz="1350">
                <a:solidFill>
                  <a:srgbClr val="B9C6DA"/>
                </a:solidFill>
                <a:latin typeface="Segoe UI Semilight"/>
              </a:rPr>
              <a:t>Every claim on this deck traces to verified, runnable code or a stated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5046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A96A8"/>
                </a:solidFill>
                <a:latin typeface="Segoe UI"/>
              </a:rPr>
              <a:t>SENTINEL // Gujarat Police Innovation Challenge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